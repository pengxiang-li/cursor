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5200" b="1">
                <a:solidFill>
                  <a:srgbClr val="F0F0F5"/>
                </a:solidFill>
                <a:latin typeface="Arial"/>
              </a:defRPr>
            </a:pPr>
            <a:r>
              <a:t>CUA 技术调研报告</a:t>
            </a:r>
          </a:p>
          <a:p>
            <a:pPr algn="l">
              <a:spcAft>
                <a:spcPts val="3000"/>
              </a:spcAft>
              <a:defRPr sz="2400" b="0">
                <a:solidFill>
                  <a:srgbClr val="00D4AA"/>
                </a:solidFill>
                <a:latin typeface="Arial"/>
              </a:defRPr>
            </a:pPr>
            <a:r>
              <a:t>Computer Use Agent — 现有方法论深度分析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B0B0C5"/>
                </a:solidFill>
                <a:latin typeface="Arial"/>
              </a:defRPr>
            </a:pPr>
            <a:r>
              <a:t>基于 Mobile-Agent-v3.5 / Mano / EvoCUA / UI-TARS-2 / AgentCPM / Computer-RL / DART-GUI</a:t>
            </a:r>
          </a:p>
          <a:p>
            <a:pPr algn="l">
              <a:spcAft>
                <a:spcPts val="3000"/>
              </a:spcAft>
              <a:defRPr sz="1400" b="0">
                <a:solidFill>
                  <a:srgbClr val="B0B0C5"/>
                </a:solidFill>
                <a:latin typeface="Arial"/>
              </a:defRPr>
            </a:pPr>
            <a:r>
              <a:t>的系统性技术路线对比与方法论提炼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36576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512064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0809A"/>
                </a:solidFill>
                <a:latin typeface="Arial"/>
              </a:defRPr>
            </a:pPr>
            <a:r>
              <a:t>目标: 从数据工程、训练范式、RL策略、基础设施四个维度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80809A"/>
                </a:solidFill>
                <a:latin typeface="Arial"/>
              </a:defRPr>
            </a:pPr>
            <a:r>
              <a:t>       系统性提炼 CUA 领域的核心方法论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讲解流程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54864" cy="64008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1556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8C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1155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  <a:latin typeface="Arial"/>
              </a:defRPr>
            </a:pPr>
            <a:r>
              <a:t>调研概览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430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5"/>
                </a:solidFill>
                <a:latin typeface="Arial"/>
              </a:defRPr>
            </a:pPr>
            <a:r>
              <a:t>调研范围、7大代表性工作概览与核心维度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54864" cy="6400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8424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AA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9842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  <a:latin typeface="Arial"/>
              </a:defRPr>
            </a:pPr>
            <a:r>
              <a:t>数据工程方法论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116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5"/>
                </a:solidFill>
                <a:latin typeface="Arial"/>
              </a:defRPr>
            </a:pPr>
            <a:r>
              <a:t>数据类型体系、采集策略矩阵、数据飞轮与质量控制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A8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878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8529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  <a:latin typeface="Arial"/>
              </a:defRPr>
            </a:pPr>
            <a:r>
              <a:t>训练范式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803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5"/>
                </a:solidFill>
                <a:latin typeface="Arial"/>
              </a:defRPr>
            </a:pPr>
            <a:r>
              <a:t>多阶段训练流程、SFT关键技巧、输出格式设计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03319"/>
            <a:ext cx="54864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21607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42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21607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  <a:latin typeface="Arial"/>
              </a:defRPr>
            </a:pPr>
            <a:r>
              <a:t>RL 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749039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5"/>
                </a:solidFill>
                <a:latin typeface="Arial"/>
              </a:defRPr>
            </a:pPr>
            <a:r>
              <a:t>算法选择、Reward设计层级、Entropy Collapse与跨平台策略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54864" cy="640080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5902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9D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902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  <a:latin typeface="Arial"/>
              </a:defRPr>
            </a:pPr>
            <a:r>
              <a:t>基础设施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5"/>
                </a:solidFill>
                <a:latin typeface="Arial"/>
              </a:defRPr>
            </a:pPr>
            <a:r>
              <a:t>环境体系、Verifier层级设计、开源数据与缺口分析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440680"/>
            <a:ext cx="54864" cy="640080"/>
          </a:xfrm>
          <a:prstGeom prst="rect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45896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4589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  <a:latin typeface="Arial"/>
              </a:defRPr>
            </a:pPr>
            <a:r>
              <a:t>核心方法论总结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4864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5"/>
                </a:solidFill>
                <a:latin typeface="Arial"/>
              </a:defRPr>
            </a:pPr>
            <a:r>
              <a:t>五大核心洞察、通用技术路线图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8CFF"/>
                </a:solidFill>
                <a:latin typeface="Arial"/>
              </a:defRPr>
            </a:pPr>
            <a: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0F5"/>
                </a:solidFill>
                <a:latin typeface="Arial"/>
              </a:defRPr>
            </a:pPr>
            <a:r>
              <a:t>调研概览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C5"/>
                </a:solidFill>
                <a:latin typeface="Arial"/>
              </a:defRPr>
            </a:pPr>
            <a:r>
              <a:t>7 大代表性工作 × 4 维度系统性对比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27432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3/26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调研范围: 7 大代表性工作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01 — 概览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9728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188720"/>
                <a:gridCol w="484632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工作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基座模型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核心贡献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OSWorld SR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UI-TARS-2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Seed 1.6 (多尺寸)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全平台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Data Flywheel + PPO + 参数插值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SOTA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Computer-RL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GLM-4V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Desktop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API-GUI Paradigm + Entropulse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SOTA-class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EvoCUA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OpenCUA/Qwen3-VL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Desktop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RFT多轮迭代 + 关键步骤DPO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55 (OSW)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Mobile-Agent-v3.5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自研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全平台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DAG探索 + MRPO + 世界模型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Mano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UI-TARS-1.5-7B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Desktop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Explorer + Action Desp + 闭环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AgentCPM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MiniCPM-V 8B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Android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12M Grounding预训练 + GRPO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DART-GUI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UI-TARS-1.5-7B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Desktop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4大自适应策略 + Experience Pool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035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Arial"/>
              </a:defRPr>
            </a:pPr>
            <a:r>
              <a:t>共性: 所有SOTA方案均采用 多阶段训练(Grounding→SFT→RL) + 数据闭环 + 多层Verifier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分析维度: CUA 系统全景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01 — 概览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60320" cy="54864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2000" b="1">
                <a:solidFill>
                  <a:srgbClr val="4E8CFF"/>
                </a:solidFill>
                <a:latin typeface="Arial"/>
              </a:defRPr>
            </a:pPr>
            <a:r>
              <a:t>数据工程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Grounding数据 + 轨迹数据 + Agent增强数据</a:t>
            </a:r>
            <a:br/>
            <a:r>
              <a:t>采集策略 × 质量控制 × 数据飞轮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37160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1371600"/>
            <a:ext cx="256032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2000" b="1">
                <a:solidFill>
                  <a:srgbClr val="00D4AA"/>
                </a:solidFill>
                <a:latin typeface="Arial"/>
              </a:defRPr>
            </a:pPr>
            <a:r>
              <a:t>训练范式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CT → SFT → RL 多阶段渐进</a:t>
            </a:r>
            <a:br/>
            <a:r>
              <a:t>CoT格式 × 数据配比 × 关键步骤策略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2560320" cy="54864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2000" b="1">
                <a:solidFill>
                  <a:srgbClr val="FF8C42"/>
                </a:solidFill>
                <a:latin typeface="Arial"/>
              </a:defRPr>
            </a:pPr>
            <a:r>
              <a:t>RL 策略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GRPO/PPO/DPO 算法选择</a:t>
            </a:r>
            <a:br/>
            <a:r>
              <a:t>Reward层级 × Entropy管理 × 跨平台优化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37160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5440" y="1371600"/>
            <a:ext cx="2560320" cy="54864"/>
          </a:xfrm>
          <a:prstGeom prst="rect">
            <a:avLst/>
          </a:prstGeom>
          <a:solidFill>
            <a:srgbClr val="A8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64592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2000" b="1">
                <a:solidFill>
                  <a:srgbClr val="A878FF"/>
                </a:solidFill>
                <a:latin typeface="Arial"/>
              </a:defRPr>
            </a:pPr>
            <a:r>
              <a:t>基础设施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沙盒环境 × Verifier体系 × A11y工具链</a:t>
            </a:r>
            <a:br/>
            <a:r>
              <a:t>并发调度 × 数据格式统一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42"/>
                </a:solidFill>
                <a:latin typeface="Arial"/>
              </a:defRPr>
            </a:pPr>
            <a:r>
              <a:t>核心命题: 数据闭环 &gt; 模型架构；RL是性能跃迁的关键，但瓶颈在环境与Verifier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8CFF"/>
                </a:solidFill>
                <a:latin typeface="Arial"/>
              </a:defRPr>
            </a:pPr>
            <a: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0F5"/>
                </a:solidFill>
                <a:latin typeface="Arial"/>
              </a:defRPr>
            </a:pPr>
            <a:r>
              <a:t>数据工程方法论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C5"/>
                </a:solidFill>
                <a:latin typeface="Arial"/>
              </a:defRPr>
            </a:pPr>
            <a:r>
              <a:t>从数据类型、采集策略到数据飞轮的系统性分析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27432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6/26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数据类型体系: 三大支柱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02 — 数据工程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3566160" cy="5029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8CFF"/>
                </a:solidFill>
                <a:latin typeface="Arial"/>
              </a:defRPr>
            </a:pPr>
            <a:r>
              <a:t>Grounding 数据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定位能力基础，所有工作的第一步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0D4AA"/>
                </a:solidFill>
                <a:latin typeface="Arial"/>
              </a:defRPr>
            </a:pPr>
            <a:r>
              <a:t>AgentCPM: 12M样本(含50%通用)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0D4AA"/>
                </a:solidFill>
                <a:latin typeface="Arial"/>
              </a:defRPr>
            </a:pPr>
            <a:r>
              <a:t>Mobile-Agent-v3.5: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Hard Grounding Synthesis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Infeasible负样本(多模型共识)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Critic模型从轨迹挖掘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FF8C42"/>
                </a:solidFill>
                <a:latin typeface="Arial"/>
              </a:defRPr>
            </a:pPr>
            <a:r>
              <a:t>关键: 负样本增强拒答能力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5029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23444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00D4AA"/>
                </a:solidFill>
                <a:latin typeface="Arial"/>
              </a:defRPr>
            </a:pPr>
            <a:r>
              <a:t>Trajectory 轨迹数据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模型学会"怎么做"的核心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0D4AA"/>
                </a:solidFill>
                <a:latin typeface="Arial"/>
              </a:defRPr>
            </a:pPr>
            <a:r>
              <a:t>采集方式 (混合生产):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DAG自动化探索 (MA-v3.5)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DFS探索+LLM评审 (Mano)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虚拟环境生成 (MA-v3.5)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In-Situ人工标注 (UI-TARS-2)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· 教程驱动合成 (AgentTrek)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FF8C42"/>
                </a:solidFill>
                <a:latin typeface="Arial"/>
              </a:defRPr>
            </a:pPr>
            <a:r>
              <a:t>关键: Cold-start质量&gt;数量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097280"/>
            <a:ext cx="3749039" cy="5029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234440"/>
            <a:ext cx="33832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A878FF"/>
                </a:solidFill>
                <a:latin typeface="Arial"/>
              </a:defRPr>
            </a:pPr>
            <a:r>
              <a:t>Agent 增强数据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让模型"会思考"的关键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0D4AA"/>
                </a:solidFill>
                <a:latin typeface="Arial"/>
              </a:defRPr>
            </a:pPr>
            <a:r>
              <a:t>统一CoT合成 (MA-v3.5):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Observation → Memory →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Reflection → Thought → Action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0D4AA"/>
                </a:solidFill>
                <a:latin typeface="Arial"/>
              </a:defRPr>
            </a:pPr>
            <a:r>
              <a:t>世界模型监督 (MA-v3.5):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预测"动作后界面如何变化"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0D4AA"/>
                </a:solidFill>
                <a:latin typeface="Arial"/>
              </a:defRPr>
            </a:pPr>
            <a:r>
              <a:t>Action Desp (Mano): +2.8分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FF8C42"/>
                </a:solidFill>
                <a:latin typeface="Arial"/>
              </a:defRPr>
            </a:pPr>
            <a:r>
              <a:t>关键: CoT结构设计显著影响性能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数据采集策略矩阵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02 — 数据工程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9692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2743200"/>
                <a:gridCol w="210312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代表工作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优势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劣势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产出效率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DAG自动化探索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Mobile-Agent-v3.5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可控 + Checkpoint验证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失败轨迹可截断重用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需人工建DAG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高 (自动)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DFS深度探索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Mano Explorer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自动发现功能路径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ClaudeWq评审质量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循环路径风险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高 (自动)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虚拟环境生成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Mobile-Agent-v3.5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精确长轨迹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无验证码干扰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需开发虚拟环境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极高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In-Situ标注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UI-TARS-2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Think-aloud真实推理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分布最真实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人力成本高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低 (人工)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教程驱动合成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AgentTrek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利用海量教程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自然语言对齐好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教程≠最优路径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中 (半自动)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多模型Teacher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Computer-RL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模型间方差互补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分层难度覆盖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API成本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中 (自动)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In-policy标注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UI-TARS-2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On-policy分布一致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人工accept/override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需成熟基座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低 (人机)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Arial"/>
              </a:defRPr>
            </a:pPr>
            <a:r>
              <a:t>方法论: 自动化为主体(70-80%) + 人工标注为兜底(10-20%) + 开源数据补充(10%)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数据飞轮: 从一次性采集到持续迭代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02 — 数据工程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486400" cy="237744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8CFF"/>
                </a:solidFill>
                <a:latin typeface="Arial"/>
              </a:defRPr>
            </a:pPr>
            <a:r>
              <a:t>UI-TARS-2 Data Flywheel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RL Rollout → Verifier V(s) 验证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  V(s)=高 → SFT 数据集 (正循环)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8C42"/>
                </a:solidFill>
                <a:latin typeface="Arial"/>
              </a:defRPr>
            </a:pPr>
            <a:r>
              <a:t>  V(s)=低 → CT 数据集 (也不浪费)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00D4AA"/>
                </a:solidFill>
                <a:latin typeface="Arial"/>
              </a:defRPr>
            </a:pPr>
            <a:r>
              <a:t>核心: 模型既是学习者，也是数据生产者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486400" cy="237744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A878FF"/>
                </a:solidFill>
                <a:latin typeface="Arial"/>
              </a:defRPr>
            </a:pPr>
            <a:r>
              <a:t>Mano 闭环循环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Online RL 成功轨迹 → 直接加入SFT迭代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中间有错但最终成功 →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  LLM生成草稿 + 人工专家修正 → SFT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00D4AA"/>
                </a:solidFill>
                <a:latin typeface="Arial"/>
              </a:defRPr>
            </a:pPr>
            <a:r>
              <a:t>核心: 错误轨迹也有修复价值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749039"/>
            <a:ext cx="5486400" cy="237744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199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8C42"/>
                </a:solidFill>
                <a:latin typeface="Arial"/>
              </a:defRPr>
            </a:pPr>
            <a:r>
              <a:t>Computer-RL Entropulse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RL Phase 1 所有成功Rollout (~130K步)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  → 不同训练阶段Policy生成, 天然多样性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  → SFT一轮恢复Entropy → 继续RL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00D4AA"/>
                </a:solidFill>
                <a:latin typeface="Arial"/>
              </a:defRPr>
            </a:pPr>
            <a:r>
              <a:t>核心: RL产出的数据反哺SFT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486400" cy="237744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886199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6B9D"/>
                </a:solidFill>
                <a:latin typeface="Arial"/>
              </a:defRPr>
            </a:pPr>
            <a:r>
              <a:t>EvoCUA 迭代式RFT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5K轨迹冷启动 → 多轮RFT → 51分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减少数据也能51分 → +DPO → 55分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每个query平均4-5条正确轨迹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00D4AA"/>
                </a:solidFill>
                <a:latin typeface="Arial"/>
              </a:defRPr>
            </a:pPr>
            <a:r>
              <a:t>核心: 迭代质量 &gt; 一次性堆量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数据规模参考与 Cold-Start 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02 — 数据工程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286000"/>
                <a:gridCol w="23774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AgentCPM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Computer-RL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EvoCUA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Mano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Grounding预训练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12M (含50%通用)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SFT轨迹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55K轨迹/470K步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180K步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5K轨迹(冷启动)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混合比 10%/70%/20%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通用数据混合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RL Task数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~8,000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~3,000-5,000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RL 环境并发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数千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2,000-4,000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114800"/>
            <a:ext cx="11430000" cy="22860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CB71"/>
                </a:solidFill>
                <a:latin typeface="Arial"/>
              </a:defRPr>
            </a:pPr>
            <a:r>
              <a:t>Cold-Start 关键洞察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1. 质量 &gt; 数量: Computer-RL仅180K步完成可用cold-start; EvoCUA 5K轨迹→51分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2. 全部通过Verifier验证; 多个强模型作为Teacher取最优 (Computer-RL Model Pool)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3. 按难度分层采集: Easy→直接采集 / Medium→SFT后模型采样 / Hard→多模型反复尝试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FF8C42"/>
                </a:solidFill>
                <a:latin typeface="Arial"/>
              </a:defRPr>
            </a:pPr>
            <a:r>
              <a:t>4. 每个query多条轨迹 &gt; 更多query: 同一任务不同解法提供更好的policy space覆盖 (EvoCUA)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5. 通用数据混合防止mode collapse: AgentCPM 50%, Qwen基座可降至25-30%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8CFF"/>
                </a:solidFill>
                <a:latin typeface="Arial"/>
              </a:defRPr>
            </a:pPr>
            <a: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0F5"/>
                </a:solidFill>
                <a:latin typeface="Arial"/>
              </a:defRPr>
            </a:pPr>
            <a:r>
              <a:t>训练范式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C5"/>
                </a:solidFill>
                <a:latin typeface="Arial"/>
              </a:defRPr>
            </a:pPr>
            <a:r>
              <a:t>从持续预训练到多阶段对齐的方法论提炼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27432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多阶段训练范式: 各工作对比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03 — 训练范式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  <a:gridCol w="237744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工作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Stage 1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Stage 2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Stage 3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Stage 4+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UI-TARS-2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CT (Seed1.6基座)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SFT (高占比轨迹)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Multi-turn PPO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参数插值融合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Computer-RL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BC (180K步)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Online GRPO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Entropulse (SFT)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Online GRPO P2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AgentCPM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Grounding (12M)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SFT (6.9M)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GRPO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Mobile-Agent-v3.5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Pretrain (跨平台)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SFT (CoT轨迹)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MRPO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Mano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 (基于UI-TARS-1.5)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SFT (混合)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Offline RL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Online RL + 闭环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EvoCUA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 (基于OpenCUA)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Cold-start SFT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多轮RFT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DPO (关键步骤)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DART-GUI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 (基于UI-TARS-1.5)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Step-wise GRPO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846320"/>
            <a:ext cx="11430000" cy="13716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983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8CFF"/>
                </a:solidFill>
                <a:latin typeface="Arial"/>
              </a:defRPr>
            </a:pPr>
            <a:r>
              <a:t>共性模式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0D4AA"/>
                </a:solidFill>
                <a:latin typeface="Arial"/>
              </a:defRPr>
            </a:pPr>
            <a:r>
              <a:t>感知/Grounding → SFT对齐 → RL优化  是所有SOTA的通用路径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差异在于: CT是否必要取决于基座能力; RL后是否需要entropy恢复; 多平台是否需要分别训练后融合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SFT 关键技巧矩阵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03 — 训练范式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1828800"/>
                <a:gridCol w="59436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技巧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效果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要点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In-policy标注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UI-TARS-2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训练-推理分布一致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模型Rollout→人工accept/override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历史帧策略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Mano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最优性能平衡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前2帧截图 + 全部历史文本摘要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CoT Warm-up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AgentCPM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引导推理能力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早期混5%纯CoT数据,逐步增加轨迹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Action Desp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Mano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+2.8分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Thought和Action间加一句话摘要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World Model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MA-v3.5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提升前瞻性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训练预测"动作后界面变化"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关键步骤上采样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EvoCUA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SFT中15-20%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识别决定性步骤: Verifier回溯/状态变化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通用数据混合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AgentCPM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防mode collapse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基座弱50%, 基座强25-30%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输出格式设计: CoT 结构对比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03 — 训练范式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3657600" cy="5029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8CFF"/>
                </a:solidFill>
                <a:latin typeface="Arial"/>
              </a:defRPr>
            </a:pPr>
            <a:r>
              <a:t>Mobile-Agent-v3.5 (五段式)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8CFF"/>
                </a:solidFill>
                <a:latin typeface="Arial"/>
              </a:defRPr>
            </a:pPr>
            <a:r>
              <a:t>[Observation]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当前界面状态观察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8CFF"/>
                </a:solidFill>
                <a:latin typeface="Arial"/>
              </a:defRPr>
            </a:pPr>
            <a:r>
              <a:t>[Memory]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记住关键信息(价格/天气等)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8CFF"/>
                </a:solidFill>
                <a:latin typeface="Arial"/>
              </a:defRPr>
            </a:pPr>
            <a:r>
              <a:t>[Reflection &amp; Progress]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反思 + 任务进度追踪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8CFF"/>
                </a:solidFill>
                <a:latin typeface="Arial"/>
              </a:defRPr>
            </a:pPr>
            <a:r>
              <a:t>[Thought]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推理下一步动作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8CFF"/>
                </a:solidFill>
                <a:latin typeface="Arial"/>
              </a:defRPr>
            </a:pPr>
            <a:r>
              <a:t>[Conclusion/Action]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执行具体操作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8C42"/>
                </a:solidFill>
                <a:latin typeface="Arial"/>
              </a:defRPr>
            </a:pPr>
            <a:r>
              <a:t>最完整, 适合SFT阶段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566160" cy="5029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23444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A878FF"/>
                </a:solidFill>
                <a:latin typeface="Arial"/>
              </a:defRPr>
            </a:pPr>
            <a:r>
              <a:t>Mano (三段式 + Desp)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A878FF"/>
                </a:solidFill>
                <a:latin typeface="Arial"/>
              </a:defRPr>
            </a:pPr>
            <a:r>
              <a:t>&lt;think&gt;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分析 + 规划 + 反思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A878FF"/>
                </a:solidFill>
                <a:latin typeface="Arial"/>
              </a:defRPr>
            </a:pPr>
            <a:r>
              <a:t>&lt;/think&gt;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CB71"/>
                </a:solidFill>
                <a:latin typeface="Arial"/>
              </a:defRPr>
            </a:pPr>
            <a:r>
              <a:t>&lt;summary&gt;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一句话摘要下一步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80809A"/>
                </a:solidFill>
                <a:latin typeface="Arial"/>
              </a:defRPr>
            </a:pPr>
            <a:r>
              <a:t>  "Move the mouse to..."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CB71"/>
                </a:solidFill>
                <a:latin typeface="Arial"/>
              </a:defRPr>
            </a:pPr>
            <a:r>
              <a:t>&lt;/summary&gt;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FF8C42"/>
                </a:solidFill>
                <a:latin typeface="Arial"/>
              </a:defRPr>
            </a:pPr>
            <a:r>
              <a:t>&lt;action&gt;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drag(start_box=...)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FF8C42"/>
                </a:solidFill>
                <a:latin typeface="Arial"/>
              </a:defRPr>
            </a:pPr>
            <a:r>
              <a:t>&lt;/action&gt;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FF8C42"/>
                </a:solidFill>
                <a:latin typeface="Arial"/>
              </a:defRPr>
            </a:pPr>
            <a:r>
              <a:t>Action Desp单项+2.8分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097280"/>
            <a:ext cx="3657600" cy="5029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23444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00D4AA"/>
                </a:solidFill>
                <a:latin typeface="Arial"/>
              </a:defRPr>
            </a:pPr>
            <a:r>
              <a:t>Computer-RL (代码式)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00D4AA"/>
                </a:solidFill>
                <a:latin typeface="Arial"/>
              </a:defRPr>
            </a:pPr>
            <a:r>
              <a:t>Thought: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 自然语言推理过程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CB71"/>
                </a:solidFill>
                <a:latin typeface="Arial"/>
              </a:defRPr>
            </a:pPr>
            <a:r>
              <a:t>```python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click(x=520, y=340)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type_text('Hello')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hotkey('ctrl', 's')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# App-specific API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sheet.set_cell('A1',v)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4ECB71"/>
                </a:solidFill>
                <a:latin typeface="Arial"/>
              </a:defRPr>
            </a:pPr>
            <a:r>
              <a:t>```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FF8C42"/>
                </a:solidFill>
                <a:latin typeface="Arial"/>
              </a:defRPr>
            </a:pPr>
            <a:r>
              <a:t>统一GUI+API, 复用代码能力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8CFF"/>
                </a:solidFill>
                <a:latin typeface="Arial"/>
              </a:defRPr>
            </a:pPr>
            <a: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0F5"/>
                </a:solidFill>
                <a:latin typeface="Arial"/>
              </a:defRPr>
            </a:pPr>
            <a:r>
              <a:t>RL 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C5"/>
                </a:solidFill>
                <a:latin typeface="Arial"/>
              </a:defRPr>
            </a:pPr>
            <a:r>
              <a:t>从算法选择到 Entropy 管理的方法论提炼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27432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RL 算法选择: 各工作实践对比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04 — RL 策略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3657600"/>
                <a:gridCol w="32918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算法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使用者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特点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Step-level GRPO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Computer-RL, AgentCPM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DART-GUI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无Value Network, 显存低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适合VLM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主力Online RL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PPO (增强版)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UI-TARS-2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更稳定, 需额外Value Model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+Value Pretraining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大规模多轮RL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MRPO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Mobile-Agent-v3.5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交替多平台优化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解决梯度冲突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跨平台联合训练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Offline DPO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EvoCUA, Mano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无需环境交互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成本低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关键步骤专项优化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多轮RFT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EvoCUA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迭代式rejection sampling</a:t>
                      </a:r>
                    </a:p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逐轮提升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数据有限时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754880"/>
            <a:ext cx="11430000" cy="146304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8CFF"/>
                </a:solidFill>
                <a:latin typeface="Arial"/>
              </a:defRPr>
            </a:pPr>
            <a:r>
              <a:t>推荐路线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0D4AA"/>
                </a:solidFill>
                <a:latin typeface="Arial"/>
              </a:defRPr>
            </a:pPr>
            <a:r>
              <a:t>Step-GRPO (主力) → Entropulse (恢复entropy) → GRPO/PPO (继续) → Offline DPO (关键步骤专项)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UI-TARS-2证明PPO比GRPO在该领域更稳定, 但GRPO显存友好; 实际选择取决于资源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16/26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Reward 设计: 四层级体系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04 — RL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2560320" cy="54864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4E8CFF"/>
                </a:solidFill>
                <a:latin typeface="Arial"/>
              </a:defRPr>
            </a:pPr>
            <a:r>
              <a:t>Tier 1: Rule-based Verifier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80809A"/>
                </a:solidFill>
                <a:latin typeface="Arial"/>
              </a:defRPr>
            </a:pPr>
            <a:r>
              <a:t>最精确, 范围窄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文件系统状态检查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文档结构解析 (Computer-RL: SpreadsheetBench)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系统配置读取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OSWorld execution scripts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JS脚本查询runtime (UI-TARS-2)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09728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08960" y="1097280"/>
            <a:ext cx="256032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2801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00D4AA"/>
                </a:solidFill>
                <a:latin typeface="Arial"/>
              </a:defRPr>
            </a:pPr>
            <a:r>
              <a:t>Tier 2: Screenshot-diff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80809A"/>
                </a:solidFill>
                <a:latin typeface="Arial"/>
              </a:defRPr>
            </a:pPr>
            <a:r>
              <a:t>中等精度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前后截图关键区域比对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OCR验证文本变化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像素级比较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09728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1097280"/>
            <a:ext cx="2560320" cy="54864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2801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8C42"/>
                </a:solidFill>
                <a:latin typeface="Arial"/>
              </a:defRPr>
            </a:pPr>
            <a:r>
              <a:t>Tier 3: LLM-as-Judge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80809A"/>
                </a:solidFill>
                <a:latin typeface="Arial"/>
              </a:defRPr>
            </a:pPr>
            <a:r>
              <a:t>灵活, 精度依赖prompt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任务指令 + 初始/最终截图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→ 成功/失败 + 评分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EvoCUA: 全部模型生成verifier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UI-TARS-2: Ground-truth匹配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097280"/>
            <a:ext cx="2560320" cy="41148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097280"/>
            <a:ext cx="2560320" cy="54864"/>
          </a:xfrm>
          <a:prstGeom prst="rect">
            <a:avLst/>
          </a:prstGeom>
          <a:solidFill>
            <a:srgbClr val="A8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2801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A878FF"/>
                </a:solidFill>
                <a:latin typeface="Arial"/>
              </a:defRPr>
            </a:pPr>
            <a:r>
              <a:t>Tier 4: Generative ORM</a:t>
            </a:r>
          </a:p>
          <a:p>
            <a:pPr algn="l">
              <a:spcAft>
                <a:spcPts val="1200"/>
              </a:spcAft>
              <a:defRPr sz="1100" b="0">
                <a:solidFill>
                  <a:srgbClr val="80809A"/>
                </a:solidFill>
                <a:latin typeface="Arial"/>
              </a:defRPr>
            </a:pPr>
            <a:r>
              <a:t>自训练, 最灵活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UI-TARS-2独创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输入: 历史文本 + 最近5帧截图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输出: 标量评分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  · 模型自身训练为Reward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94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8C42"/>
                </a:solidFill>
                <a:latin typeface="Arial"/>
              </a:defRPr>
            </a:pPr>
            <a:r>
              <a:t>Verifier构建优先级: 文件管理(低) → 文本编辑(低) → 终端(低) → 浏览器(中) → Office(中) → 设置(中) → IDE(高)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Arial"/>
              </a:defRPr>
            </a:pPr>
            <a:r>
              <a:t>核心洞察: Computer-RL ~8000个可编程Verifier是其成功关键; EvoCUA证明纯模型生成Verifier也可行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Entropy Collapse 与解决方案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04 — RL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486400" cy="22860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5A5A"/>
                </a:solidFill>
                <a:latin typeface="Arial"/>
              </a:defRPr>
            </a:pPr>
            <a:r>
              <a:t>问题: RL 后期 Entropy 下降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Computer-RL: 训练~180步后性能触顶, Entropy显著下降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5A5A"/>
                </a:solidFill>
                <a:latin typeface="Arial"/>
              </a:defRPr>
            </a:pPr>
            <a:r>
              <a:t>模型变得过于自信且单一 (Mode Collapse)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5A5A"/>
                </a:solidFill>
                <a:latin typeface="Arial"/>
              </a:defRPr>
            </a:pPr>
            <a:r>
              <a:t>探索能力丧失 → 无法发现更优策略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486400" cy="22860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CB71"/>
                </a:solidFill>
                <a:latin typeface="Arial"/>
              </a:defRPr>
            </a:pPr>
            <a:r>
              <a:t>解决方案 1: Entropulse (Computer-RL)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收集RL阶段所有成功Rollout (~130K步)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→ 用这些数据做一轮SFT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→ 强行恢复Entropy + 保持高成功率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00D4AA"/>
                </a:solidFill>
                <a:latin typeface="Arial"/>
              </a:defRPr>
            </a:pPr>
            <a:r>
              <a:t>→ 继续RL, 突破Phase 1天花板 → SOTA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657600"/>
            <a:ext cx="3657600" cy="25603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A878FF"/>
                </a:solidFill>
                <a:latin typeface="Arial"/>
              </a:defRPr>
            </a:pPr>
            <a:r>
              <a:t>解决方案 2: Value Pretraining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来源: UI-TARS-2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先固定Policy, 离线训练Value模型至收敛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解决初始偏差导致的训练崩溃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+ Decoupled GAE: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解耦长序列Advantage计算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657600"/>
            <a:ext cx="3657600" cy="25603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379476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8C42"/>
                </a:solidFill>
                <a:latin typeface="Arial"/>
              </a:defRPr>
            </a:pPr>
            <a:r>
              <a:t>解决方案 3: 自适应策略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来源: DART-GUI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1. Dynamic Rollout Number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2. Dynamic Trajectory Length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3. High-Entropy Step Selection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 只对高熵step算loss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4. Distribution Alignment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474720" cy="25603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7947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6B9D"/>
                </a:solidFill>
                <a:latin typeface="Arial"/>
              </a:defRPr>
            </a:pPr>
            <a:r>
              <a:t>解决方案 4: Experience Pool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来源: DART-GUI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预先为困难任务采集成功轨迹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若当前batch全部失败: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  → 从池中补一条正样本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保证正负样本共存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跨平台训练策略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04 — RL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3566160" cy="2743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5A5A"/>
                </a:solidFill>
                <a:latin typeface="Arial"/>
              </a:defRPr>
            </a:pPr>
            <a:r>
              <a:t>问题: 梯度冲突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80809A"/>
                </a:solidFill>
                <a:latin typeface="Arial"/>
              </a:defRPr>
            </a:pPr>
            <a:r>
              <a:t>Mobile-Agent-v3.5 发现: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手机/PC/Web轨迹混在一个Batch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→ 动作空间和界面逻辑差异大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FF5A5A"/>
                </a:solidFill>
                <a:latin typeface="Arial"/>
              </a:defRPr>
            </a:pPr>
            <a:r>
              <a:t>→ 严重的梯度冲突 (Tug-of-war)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2743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23444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8CFF"/>
                </a:solidFill>
                <a:latin typeface="Arial"/>
              </a:defRPr>
            </a:pPr>
            <a:r>
              <a:t>方案A: MRPO交替训练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来源: Mobile-Agent-v3.5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4E8CFF"/>
                </a:solidFill>
                <a:latin typeface="Arial"/>
              </a:defRPr>
            </a:pPr>
            <a:r>
              <a:t>Win → macOS → Linux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不同Training Stage专注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单一设备家族周期性迭代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097280"/>
            <a:ext cx="3749039" cy="27432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234440"/>
            <a:ext cx="33832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CB71"/>
                </a:solidFill>
                <a:latin typeface="Arial"/>
              </a:defRPr>
            </a:pPr>
            <a:r>
              <a:t>方案B: 参数插值 (推荐)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来源: UI-TARS-2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分别训练 Vertical Agents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(Browsing/GUI/Game/SDK各一)</a:t>
            </a:r>
          </a:p>
          <a:p>
            <a:pPr algn="l">
              <a:spcAft>
                <a:spcPts val="400"/>
              </a:spcAft>
              <a:defRPr sz="1600" b="1">
                <a:solidFill>
                  <a:srgbClr val="00D4AA"/>
                </a:solidFill>
                <a:latin typeface="Arial"/>
              </a:defRPr>
            </a:pPr>
            <a:r>
              <a:t>θ_merge = Σ α_k · θ_k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ECB71"/>
                </a:solidFill>
                <a:latin typeface="Arial"/>
              </a:defRPr>
            </a:pPr>
            <a:r>
              <a:t>保留各领域峰值性能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114800"/>
            <a:ext cx="11338560" cy="201168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25196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8C42"/>
                </a:solidFill>
                <a:latin typeface="Arial"/>
              </a:defRPr>
            </a:pPr>
            <a:r>
              <a:t>Token-ID Transport: 训练-推理对齐 (Mobile-Agent-v3.5)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问题: 环境端返回文本动作, Tokenizer编码可能有多义性, 直接用文本回传算Loss导致Log-prob错位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方案: 直接打包回传生成时的Token IDs, 确保训练和推理的绝对一致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8C42"/>
                </a:solidFill>
                <a:latin typeface="Arial"/>
              </a:defRPr>
            </a:pPr>
            <a:r>
              <a:t>EvoCUA 也指出: OpenCUA模型和Qwen3-VL的pattern差异大, 需要工程对齐(如RoPE)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8CFF"/>
                </a:solidFill>
                <a:latin typeface="Arial"/>
              </a:defRPr>
            </a:pPr>
            <a:r>
              <a:t>PART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0F5"/>
                </a:solidFill>
                <a:latin typeface="Arial"/>
              </a:defRPr>
            </a:pPr>
            <a:r>
              <a:t>基础设施与数据生态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C5"/>
                </a:solidFill>
                <a:latin typeface="Arial"/>
              </a:defRPr>
            </a:pPr>
            <a:r>
              <a:t>环境体系、开源数据版图与缺口分析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27432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环境分层体系与 Verifier 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05 — 基础设施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3657600" cy="22860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8CFF"/>
                </a:solidFill>
                <a:latin typeface="Arial"/>
              </a:defRPr>
            </a:pPr>
            <a:r>
              <a:t>Layer 1: 数据采集环境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0D4AA"/>
                </a:solidFill>
                <a:latin typeface="Arial"/>
              </a:defRPr>
            </a:pPr>
            <a:r>
              <a:t>50-100 VM 并发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Win11×30 + macOS×10 + Ubuntu×10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截图+A11y提取+动作录制/回放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97280"/>
            <a:ext cx="3657600" cy="22860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2344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8C42"/>
                </a:solidFill>
                <a:latin typeface="Arial"/>
              </a:defRPr>
            </a:pPr>
            <a:r>
              <a:t>Layer 2: RL 沙盒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FF8C42"/>
                </a:solidFill>
                <a:latin typeface="Arial"/>
              </a:defRPr>
            </a:pPr>
            <a:r>
              <a:t>2,000-4,000 并发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Docker/VM快照池, 快速重置&lt;10s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DART-GUI: 四模块完全解耦异步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Env/Rollout/DataMgr/Trainer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097280"/>
            <a:ext cx="3474720" cy="22860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23444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CB71"/>
                </a:solidFill>
                <a:latin typeface="Arial"/>
              </a:defRPr>
            </a:pPr>
            <a:r>
              <a:t>Layer 3: 虚拟渲染环境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4ECB71"/>
                </a:solidFill>
                <a:latin typeface="Arial"/>
              </a:defRPr>
            </a:pPr>
            <a:r>
              <a:t>状态完全可控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Web渲染虚拟桌面应用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Verifier天然精确 (MA-v3.5)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适用Office/表单/设置类任务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657600"/>
            <a:ext cx="5577840" cy="25603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A878FF"/>
                </a:solidFill>
                <a:latin typeface="Arial"/>
              </a:defRPr>
            </a:pPr>
            <a:r>
              <a:t>A11y 工具链对比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Windows: pywinauto + UIA API          成熟度: 高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macOS:   macapptree + AX API          成熟度: 中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B0B0C5"/>
                </a:solidFill>
                <a:latin typeface="Arial"/>
              </a:defRPr>
            </a:pPr>
            <a:r>
              <a:t>Linux:   pyatspi2 + AT-SPI             成熟度: 中低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00D4AA"/>
                </a:solidFill>
                <a:latin typeface="Arial"/>
              </a:defRPr>
            </a:pPr>
            <a:r>
              <a:t>Mano: A11y Tree + OmniParse混合最稳健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8C42"/>
                </a:solidFill>
                <a:latin typeface="Arial"/>
              </a:defRPr>
            </a:pPr>
            <a:r>
              <a:t>Computer-RL: 纯视觉(移除A11y)也可行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657600"/>
            <a:ext cx="5486400" cy="25603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7947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00D4AA"/>
                </a:solidFill>
                <a:latin typeface="Arial"/>
              </a:defRPr>
            </a:pPr>
            <a:r>
              <a:t>分布式训练架构 (DART-GUI参考)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四模块完全解耦异步: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Env Cluster: 并行Docker (K8s)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Rollout Service: vLLM多worker推理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Data Manager: MySQL管理轨迹/调度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  Trainer: FSDP (verl) 异步GRPO更新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8C42"/>
                </a:solidFill>
                <a:latin typeface="Arial"/>
              </a:defRPr>
            </a:pPr>
            <a:r>
              <a:t>核心: 单条轨迹为最小调度单元, near on-policy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21/26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开源数据集版图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05 — 基础设施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515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  <a:gridCol w="3200400"/>
                <a:gridCol w="21031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0F0F5"/>
                          </a:solidFill>
                          <a:latin typeface="Arial"/>
                        </a:defRPr>
                      </a:pPr>
                      <a:r>
                        <a:t>平台</a:t>
                      </a:r>
                    </a:p>
                  </a:txBody>
                  <a:tcPr>
                    <a:solidFill>
                      <a:srgbClr val="2D3A6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Grounding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OS-ATLAS / GroundCUA / Jedi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13M+ / 3.56M / 4M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跨平台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Desktop轨迹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GUI-360° / OpenCUA / ScaleCUA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1.2M步 / 22K轨迹 / 大规模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Win / 3OS / 6OS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Web轨迹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Mind2Web / WebLINX / GUIAct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2K+ / 100K / 127K-1.26M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Web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Mobile轨迹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AITW / Rico / AMEX / AndroidControl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715K / 66K / 104K / 15K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Android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GUI QA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ScreenQA / GUI-Xplore / GUI-World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86K / 32K / 12K+视频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Mixed</a:t>
                      </a:r>
                    </a:p>
                  </a:txBody>
                  <a:tcPr>
                    <a:solidFill>
                      <a:srgbClr val="2525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OSWorld / WAA / ScreenSpot-Pro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369 / 154+ / 1.59K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B0B0C5"/>
                          </a:solidFill>
                          <a:latin typeface="Arial"/>
                        </a:defRPr>
                      </a:pPr>
                      <a:r>
                        <a:t>Desktop</a:t>
                      </a:r>
                    </a:p>
                  </a:txBody>
                  <a:tcPr>
                    <a:solidFill>
                      <a:srgbClr val="20203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389120"/>
            <a:ext cx="11430000" cy="201168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FF5A5A"/>
                </a:solidFill>
                <a:latin typeface="Arial"/>
              </a:defRPr>
            </a:pPr>
            <a:r>
              <a:t>数据缺口分析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0809A"/>
                </a:solidFill>
                <a:latin typeface="Arial"/>
              </a:defRPr>
            </a:pPr>
            <a:r>
              <a:t>        Windows    macOS    Linux     Web      Mobile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感知     充足       中等     稀缺      充足     充足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Grounding 充足      中等     稀缺      充足     充足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8C42"/>
                </a:solidFill>
                <a:latin typeface="Arial"/>
              </a:defRPr>
            </a:pPr>
            <a:r>
              <a:t>轨迹     充足       稀缺     稀缺      充足     充足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5A5A"/>
                </a:solidFill>
                <a:latin typeface="Arial"/>
              </a:defRPr>
            </a:pPr>
            <a:r>
              <a:t>端到端   中等       极缺     极缺      中等     充足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00D4AA"/>
                </a:solidFill>
                <a:latin typeface="Arial"/>
              </a:defRPr>
            </a:pPr>
            <a:r>
              <a:t>核心缺口: macOS/Linux轨迹、代码级动作、跨应用工作流、失败/自纠正轨迹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8CFF"/>
                </a:solidFill>
                <a:latin typeface="Arial"/>
              </a:defRPr>
            </a:pPr>
            <a:r>
              <a:t>PART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0F5"/>
                </a:solidFill>
                <a:latin typeface="Arial"/>
              </a:defRPr>
            </a:pPr>
            <a:r>
              <a:t>核心方法论总结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0C5"/>
                </a:solidFill>
                <a:latin typeface="Arial"/>
              </a:defRPr>
            </a:pPr>
            <a:r>
              <a:t>从现有工作中提炼的五大核心洞察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27432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五大核心方法论洞察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06 — 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51560"/>
            <a:ext cx="11430000" cy="9601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73152" cy="960120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8C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0F5"/>
                </a:solidFill>
                <a:latin typeface="Arial"/>
              </a:defRPr>
            </a:pPr>
            <a:r>
              <a:t>数据闭环 &gt; 模型架构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6304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5"/>
                </a:solidFill>
                <a:latin typeface="Arial"/>
              </a:defRPr>
            </a:pPr>
            <a:r>
              <a:t>UI-TARS-2 Data Flywheel / Computer-RL Entropulse / Mano闭环</a:t>
            </a:r>
            <a:br/>
            <a:r>
              <a:t>数据管线的迭代效率决定最终性能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130552"/>
            <a:ext cx="11430000" cy="9601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30552"/>
            <a:ext cx="73152" cy="9601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762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17627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0F5"/>
                </a:solidFill>
                <a:latin typeface="Arial"/>
              </a:defRPr>
            </a:pPr>
            <a:r>
              <a:t>RL 是跃迁关键, 瓶颈在环境+Verifier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54203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5"/>
                </a:solidFill>
                <a:latin typeface="Arial"/>
              </a:defRPr>
            </a:pPr>
            <a:r>
              <a:t>所有SOTA均在SFT后做RL; EvoCUA需2K-4K并发环境</a:t>
            </a:r>
            <a:br/>
            <a:r>
              <a:t>Computer-RL配备~8000个可编程Verifier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209544"/>
            <a:ext cx="11430000" cy="9601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209544"/>
            <a:ext cx="73152" cy="9601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42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5526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0F5"/>
                </a:solidFill>
                <a:latin typeface="Arial"/>
              </a:defRPr>
            </a:pPr>
            <a:r>
              <a:t>Cold-Start 质量 &gt; 数量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62102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5"/>
                </a:solidFill>
                <a:latin typeface="Arial"/>
              </a:defRPr>
            </a:pPr>
            <a:r>
              <a:t>Computer-RL 180K步 / EvoCUA 5K轨迹即可启动</a:t>
            </a:r>
            <a:br/>
            <a:r>
              <a:t>关键: Verifier过滤 + 多Teacher + 分层难度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288536"/>
            <a:ext cx="11430000" cy="9601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288536"/>
            <a:ext cx="73152" cy="960120"/>
          </a:xfrm>
          <a:prstGeom prst="rect">
            <a:avLst/>
          </a:prstGeom>
          <a:solidFill>
            <a:srgbClr val="A8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342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78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33425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0F5"/>
                </a:solidFill>
                <a:latin typeface="Arial"/>
              </a:defRPr>
            </a:pPr>
            <a:r>
              <a:t>Grounding 是基础瓶颈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00016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5"/>
                </a:solidFill>
                <a:latin typeface="Arial"/>
              </a:defRPr>
            </a:pPr>
            <a:r>
              <a:t>AgentCPM 12M预训练 / ScreenSpot-Pro SOTA仅18.9%</a:t>
            </a:r>
            <a:br/>
            <a:r>
              <a:t>桌面元素更密更小, 需Hard Synthesis+负样本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5367528"/>
            <a:ext cx="11430000" cy="9601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367528"/>
            <a:ext cx="73152" cy="960120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4132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9D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4132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F0F5"/>
                </a:solidFill>
                <a:latin typeface="Arial"/>
              </a:defRPr>
            </a:pPr>
            <a:r>
              <a:t>统一动作空间尚未解决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77900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5"/>
                </a:solidFill>
                <a:latin typeface="Arial"/>
              </a:defRPr>
            </a:pPr>
            <a:r>
              <a:t>Mobile/Web/Desktop仍割裂</a:t>
            </a:r>
            <a:br/>
            <a:r>
              <a:t>Computer-RL的API-GUI Paradigm (Python代码) 是当前最优方案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12191695" cy="27432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  <a:latin typeface="Arial"/>
              </a:defRPr>
            </a:pPr>
            <a:r>
              <a:t>通用技术路线图: 从现有工作提炼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0809A"/>
                </a:solidFill>
                <a:latin typeface="Arial"/>
              </a:defRPr>
            </a:pPr>
            <a:r>
              <a:t>Part 06 — 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2103120" cy="32004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2103120" cy="54864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828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1">
                <a:solidFill>
                  <a:srgbClr val="4E8CFF"/>
                </a:solidFill>
                <a:latin typeface="Arial"/>
              </a:defRPr>
            </a:pPr>
            <a:r>
              <a:t>Phase 0</a:t>
            </a:r>
            <a:br/>
            <a:r>
              <a:t>基建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环境集群 + A11y工具链</a:t>
            </a:r>
            <a:br/>
            <a:r>
              <a:t>Verifier体系 + 数据格式</a:t>
            </a:r>
            <a:br/>
            <a:r>
              <a:t>统一动作空间设计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097280"/>
            <a:ext cx="2103120" cy="32004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1760" y="1097280"/>
            <a:ext cx="210312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325880"/>
            <a:ext cx="1828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1">
                <a:solidFill>
                  <a:srgbClr val="00D4AA"/>
                </a:solidFill>
                <a:latin typeface="Arial"/>
              </a:defRPr>
            </a:pPr>
            <a:r>
              <a:t>Phase 1</a:t>
            </a:r>
            <a:br/>
            <a:r>
              <a:t>Grounding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15-20M样本</a:t>
            </a:r>
            <a:br/>
            <a:r>
              <a:t>OS-ATLAS+GroundCUA</a:t>
            </a:r>
            <a:br/>
            <a:r>
              <a:t>+Hard Synthesis</a:t>
            </a:r>
            <a:br/>
            <a:r>
              <a:t>+30%通用防退化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097280"/>
            <a:ext cx="2103120" cy="32004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097280"/>
            <a:ext cx="2103120" cy="54864"/>
          </a:xfrm>
          <a:prstGeom prst="rect">
            <a:avLst/>
          </a:prstGeom>
          <a:solidFill>
            <a:srgbClr val="A8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325880"/>
            <a:ext cx="1828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1">
                <a:solidFill>
                  <a:srgbClr val="A878FF"/>
                </a:solidFill>
                <a:latin typeface="Arial"/>
              </a:defRPr>
            </a:pPr>
            <a:r>
              <a:t>Phase 2</a:t>
            </a:r>
            <a:br/>
            <a:r>
              <a:t>SFT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Cold-start: 100-200K步</a:t>
            </a:r>
            <a:br/>
            <a:r>
              <a:t>多Teacher+Verifier过滤</a:t>
            </a:r>
            <a:br/>
            <a:r>
              <a:t>+CoT+ActionDesp</a:t>
            </a:r>
            <a:br/>
            <a:r>
              <a:t>+25%通用防collapse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097280"/>
            <a:ext cx="2103120" cy="32004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1097280"/>
            <a:ext cx="2103120" cy="54864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1325880"/>
            <a:ext cx="1828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1">
                <a:solidFill>
                  <a:srgbClr val="FF8C42"/>
                </a:solidFill>
                <a:latin typeface="Arial"/>
              </a:defRPr>
            </a:pPr>
            <a:r>
              <a:t>Phase 3</a:t>
            </a:r>
            <a:br/>
            <a:r>
              <a:t>Online RL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Step-GRPO/PPO</a:t>
            </a:r>
            <a:br/>
            <a:r>
              <a:t>2K-4K并发环境</a:t>
            </a:r>
            <a:br/>
            <a:r>
              <a:t>Rule→LLM→ORM reward</a:t>
            </a:r>
            <a:br/>
            <a:r>
              <a:t>+Entropulse循环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1097280"/>
            <a:ext cx="2103120" cy="320040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4080" y="1097280"/>
            <a:ext cx="2103120" cy="54864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1325880"/>
            <a:ext cx="1828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1">
                <a:solidFill>
                  <a:srgbClr val="FF6B9D"/>
                </a:solidFill>
                <a:latin typeface="Arial"/>
              </a:defRPr>
            </a:pPr>
            <a:r>
              <a:t>Phase 4</a:t>
            </a:r>
            <a:br/>
            <a:r>
              <a:t>融合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B0B0C5"/>
                </a:solidFill>
                <a:latin typeface="Arial"/>
              </a:defRPr>
            </a:pPr>
            <a:r>
              <a:t>Offline DPO(关键步骤)</a:t>
            </a:r>
            <a:br/>
            <a:r>
              <a:t>参数插值/MRPO</a:t>
            </a:r>
            <a:br/>
            <a:r>
              <a:t>数据飞轮持续运转</a:t>
            </a:r>
            <a:br/>
            <a:r>
              <a:t>Model Merge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0809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0809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0809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0809A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572000"/>
            <a:ext cx="11430000" cy="1645920"/>
          </a:xfrm>
          <a:prstGeom prst="roundRect">
            <a:avLst/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70916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4ECB71"/>
                </a:solidFill>
                <a:latin typeface="Arial"/>
              </a:defRPr>
            </a:pPr>
            <a:r>
              <a:t>贯穿全流程的数据飞轮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0D4AA"/>
                </a:solidFill>
                <a:latin typeface="Arial"/>
              </a:defRPr>
            </a:pPr>
            <a:r>
              <a:t>采集 → 训练(SFT/RL) → Rollout → Verifier验证 → 数据回收 → 质量过滤 → 路由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B0B0C5"/>
                </a:solidFill>
                <a:latin typeface="Arial"/>
              </a:defRPr>
            </a:pPr>
            <a:r>
              <a:t>高质量成功轨迹 → SFT    |  低质量/失败 → CT    |  成功但有错 → LLM修正→SFT    |  成功Rollout → Entropy恢复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8C42"/>
                </a:solidFill>
                <a:latin typeface="Arial"/>
              </a:defRPr>
            </a:pPr>
            <a:r>
              <a:t>每个query多轨迹 &gt; 更多query  |  迭代质量 &gt; 一次性堆量  |  通用数据混合25-30%防collapse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5200" b="1">
                <a:solidFill>
                  <a:srgbClr val="F0F0F5"/>
                </a:solidFill>
                <a:latin typeface="Arial"/>
              </a:defRPr>
            </a:pPr>
            <a:r>
              <a:t>Thank You</a:t>
            </a:r>
          </a:p>
          <a:p>
            <a:pPr algn="l">
              <a:spcAft>
                <a:spcPts val="3000"/>
              </a:spcAft>
              <a:defRPr sz="2400" b="0">
                <a:solidFill>
                  <a:srgbClr val="00D4AA"/>
                </a:solidFill>
                <a:latin typeface="Arial"/>
              </a:defRPr>
            </a:pPr>
            <a:r>
              <a:t>CUA 技术调研报告</a:t>
            </a:r>
          </a:p>
          <a:p>
            <a:pPr algn="l">
              <a:spcAft>
                <a:spcPts val="1200"/>
              </a:spcAft>
              <a:defRPr sz="1800" b="1">
                <a:solidFill>
                  <a:srgbClr val="B0B0C5"/>
                </a:solidFill>
                <a:latin typeface="Arial"/>
              </a:defRPr>
            </a:pPr>
            <a:r>
              <a:t>核心结论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B0B0C5"/>
                </a:solidFill>
                <a:latin typeface="Arial"/>
              </a:defRPr>
            </a:pPr>
            <a:r>
              <a:t>1. 数据闭环驱动 &gt; 模型架构创新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B0B0C5"/>
                </a:solidFill>
                <a:latin typeface="Arial"/>
              </a:defRPr>
            </a:pPr>
            <a:r>
              <a:t>2. RL 是性能跃迁关键，瓶颈在环境与 Verifier 而非算法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B0B0C5"/>
                </a:solidFill>
                <a:latin typeface="Arial"/>
              </a:defRPr>
            </a:pPr>
            <a:r>
              <a:t>3. Cold-Start 质量优先，Verifier 过滤 + 多 Teacher + 分层难度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B0B0C5"/>
                </a:solidFill>
                <a:latin typeface="Arial"/>
              </a:defRPr>
            </a:pPr>
            <a:r>
              <a:t>4. Grounding 是基础瓶颈，需 Hard Synthesis + 负样本增强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B0B0C5"/>
                </a:solidFill>
                <a:latin typeface="Arial"/>
              </a:defRPr>
            </a:pPr>
            <a:r>
              <a:t>5. API-GUI Paradigm 是统一动作空间的当前最优方案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943600"/>
            <a:ext cx="3657600" cy="36576"/>
          </a:xfrm>
          <a:prstGeom prst="rect">
            <a:avLst/>
          </a:prstGeom>
          <a:solidFill>
            <a:srgbClr val="4E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9A"/>
                </a:solidFill>
                <a:latin typeface="Arial"/>
              </a:defRPr>
            </a:pPr>
            <a:r>
              <a:t>26/26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