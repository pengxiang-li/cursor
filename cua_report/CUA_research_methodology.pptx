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开场 30 秒：这次不讲单篇论文细节，讲跨工作可复用的方法论（recipe）。</a:t>
            </a:r>
          </a:p>
          <a:p>
            <a:pPr lvl="1"/>
            <a:r>
              <a:rPr sz="1200" b="0">
                <a:latin typeface="Noto Sans CJK SC"/>
              </a:rPr>
              <a:t>听众默认懂训练与 RL；我只强调那些“落到工程与数据闭环才会出现”的关键点。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把“论文点”变成“我们明天能搭建”的组件：动作空间、数据 schema、奖励与环境。</a:t>
            </a:r>
          </a:p>
          <a:p>
            <a:pPr lvl="1"/>
            <a:r>
              <a:rPr sz="1200" b="0">
                <a:latin typeface="Noto Sans CJK SC"/>
              </a:rPr>
              <a:t>所有结论尽量用多篇工作共同出现的信号来支撑，避免单点经验。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先把系统边界画清：这是多模态序列决策 + 真实环境反馈（往往稀疏且昂贵）。</a:t>
            </a:r>
          </a:p>
          <a:p>
            <a:pPr lvl="1"/>
            <a:r>
              <a:rPr sz="1200" b="0">
                <a:latin typeface="Noto Sans CJK SC"/>
              </a:rPr>
              <a:t>后续所有方法论都在解决三件事：可学习的观测、可控的动作、可扩展的奖励/验证。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把这页当成总论：几乎所有 SOTA 都在“数据生产—训练—再生产”上卷效率，而不是换 backbone。</a:t>
            </a:r>
          </a:p>
          <a:p>
            <a:pPr lvl="1"/>
            <a:r>
              <a:rPr sz="1200" b="0">
                <a:latin typeface="Noto Sans CJK SC"/>
              </a:rPr>
              <a:t>后面每个模块都要回答：它如何进入闭环、如何被质检、如何被路由到下一轮训练。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这三件事决定“能不能做大”：Grounding 决定能不能点对；Verifier 决定 RL 上限；动作空间决定跨平台与工具化能力。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给资深听众的点：动作空间不是 UI 细节，而是 credit assignment 与可组合性（循环/条件/函数）。</a:t>
            </a:r>
          </a:p>
          <a:p>
            <a:pPr lvl="1"/>
            <a:r>
              <a:rPr sz="1200" b="0">
                <a:latin typeface="Noto Sans CJK SC"/>
              </a:rPr>
              <a:t>如果要做跨平台统一，代码动作空间是目前最“端到端对齐编程能力”的方案。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强调一个组织方式：把数据按“训练目标”分桶，而不是按“来源”分桶，便于配比与路由。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Grounding 的关键不只是数量，而是“错在哪里”：小控件、遮挡、多窗口、语义歧义。</a:t>
            </a:r>
          </a:p>
          <a:p>
            <a:pPr lvl="1"/>
            <a:r>
              <a:rPr sz="1200" b="0">
                <a:latin typeface="Noto Sans CJK SC"/>
              </a:rPr>
              <a:t>负样本在 CUA 很关键：能显著降低盲点点击与 hallucinated element。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这里的主线是：用系统结构（DAG/虚拟环境/质量评估）把‘轨迹质量’工程化，而不是堆人力。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把任务难度分层，是为了把采样预算用在能提升 policy 的地方（hard tasks / high-entropy steps）。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这一页是后面细节的索引：你每做一步，都要说明它在闭环里怎么回流与路由。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对资深听众：这本质是在做‘信息瓶颈设计’——哪些信息应该进 context、哪些应该被压缩成摘要。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强调一个‘必须做’：reward/verification 的分层；否则 online RL 很难 scale 到桌面任务。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讲清楚优先级：先把 P0 应用做成 Tier1 verifier（可编程/可解析），再用 Tier3 覆盖长尾。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这页的讲法偏工程：强调 RL 算法不是瓶颈，瓶颈是环境调度与验证吞吐。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把它讲成一个工程策略：A11y 不是‘要不要’，而是‘什么时候用’（gating）。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强调一个决策原则：先做能写 verifier 的应用（否则 RL 没法闭环）。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这页作为你的‘总结落点’：听众带走的是这 8 步，而不是某个论文 trick。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讲法：每条 failure 都要落到‘能否自动化发现/自动化修复/进入闭环’。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这页帮助大家把资源拼起来：不要把 OSWorld 当训练集；把它当验证与 failure mining。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收尾口径：如果只能投一个月资源，先把 P0 应用的 verifier+RL 闭环跑通，再谈泛化。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1400" b="1">
                <a:latin typeface="Noto Sans CJK SC"/>
              </a:rPr>
              <a:t>讲稿备注（建议口径）</a:t>
            </a:r>
          </a:p>
          <a:p>
            <a:pPr lvl="1"/>
            <a:r>
              <a:rPr sz="1200" b="0">
                <a:latin typeface="Noto Sans CJK SC"/>
              </a:rPr>
              <a:t>如果被问细节：把讨论拉回到‘闭环如何搭建’与‘哪一步是瓶颈’。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 b="1">
                <a:latin typeface="Noto Sans CJK SC"/>
              </a:rPr>
              <a:t>CUA 调研汇报：从现有工作抽象出方法论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latin typeface="Noto Sans CJK SC"/>
              </a:rPr>
              <a:t>聚焦：数据飞轮 / Grounding / 轨迹生产 / RL+Verifier / 动作空间统一（2026-02-27）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目标与输出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目标：分析现有 SOTA 工作，抽象出可执行的方法论（recipe）</a:t>
            </a:r>
          </a:p>
          <a:p>
            <a:pPr/>
            <a:r>
              <a:rPr sz="1800" b="0">
                <a:latin typeface="Noto Sans CJK SC"/>
              </a:rPr>
              <a:t>输出 1：一条端到端训练路线图（Grounding → SFT → RL → 数据飞轮）</a:t>
            </a:r>
          </a:p>
          <a:p>
            <a:pPr/>
            <a:r>
              <a:rPr sz="1800" b="0">
                <a:latin typeface="Noto Sans CJK SC"/>
              </a:rPr>
              <a:t>输出 2：关键设计分歧与 trade-off（Vision-only vs A11y、动作空间、Verifier）</a:t>
            </a:r>
          </a:p>
          <a:p>
            <a:pPr/>
            <a:r>
              <a:rPr sz="1800" b="0">
                <a:latin typeface="Noto Sans CJK SC"/>
              </a:rPr>
              <a:t>输出 3：可落地的工程与数据管线拆解（环境并发、重置、路由、质检）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问题定义：CUA（Computer-Use Agent）系统栈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输入：截图（可选 A11y/DOM/UI tree）+ 历史（动作摘要/记忆）+ 任务指令</a:t>
            </a:r>
          </a:p>
          <a:p>
            <a:pPr/>
            <a:r>
              <a:rPr sz="1800" b="0">
                <a:latin typeface="Noto Sans CJK SC"/>
              </a:rPr>
              <a:t>输出：动作（坐标 primitives）或代码（API-GUI paradigm）或工具调用（MCP）</a:t>
            </a:r>
          </a:p>
          <a:p>
            <a:pPr/>
            <a:r>
              <a:rPr sz="1800" b="0">
                <a:latin typeface="Noto Sans CJK SC"/>
              </a:rPr>
              <a:t>闭环：执行 → 观测 → 规划/反思 → 再执行；外部 Verifier 提供成败信号</a:t>
            </a:r>
          </a:p>
          <a:p>
            <a:pPr/>
            <a:r>
              <a:rPr sz="1800" b="0">
                <a:latin typeface="Noto Sans CJK SC"/>
              </a:rPr>
              <a:t>核心指标：Task Success Rate + Efficiency（步数/耗时）+ 鲁棒性（异常/不可行）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跨工作共识 1：数据闭环（Data Flywheel）&gt; 模型架构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UI-TARS-2：Data Flywheel + 数据路由（高质→SFT，低质→CT）</a:t>
            </a:r>
          </a:p>
          <a:p>
            <a:pPr/>
            <a:r>
              <a:rPr sz="1800" b="0">
                <a:latin typeface="Noto Sans CJK SC"/>
              </a:rPr>
              <a:t>Computer-RL：RL 触顶后用 Entropulse（成功 rollouts 再 SFT）恢复熵与探索</a:t>
            </a:r>
          </a:p>
          <a:p>
            <a:pPr/>
            <a:r>
              <a:rPr sz="1800" b="0">
                <a:latin typeface="Noto Sans CJK SC"/>
              </a:rPr>
              <a:t>Mano：在线 RL 成功轨迹回流到 SFT；“成功但有错”→LLM 草稿→人修→再注入</a:t>
            </a:r>
          </a:p>
          <a:p>
            <a:pPr/>
            <a:r>
              <a:rPr sz="1800" b="0">
                <a:latin typeface="Noto Sans CJK SC"/>
              </a:rPr>
              <a:t>EvoCUA：5K 轨迹多轮 RFT + DPO 即可上分，强调迭代质量与 scaling 基建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跨工作共识 2：三大瓶颈（按影响排序）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Grounding：桌面元素密/小/多窗口；ScreenSpot-Pro 仍很难（材料中提到 18.9%）</a:t>
            </a:r>
          </a:p>
          <a:p>
            <a:pPr/>
            <a:r>
              <a:rPr sz="1800" b="0">
                <a:latin typeface="Noto Sans CJK SC"/>
              </a:rPr>
              <a:t>RL Scaling：性能跃迁依赖 RL，但瓶颈在 环境并发 + 快速重置 + Verifier 质量</a:t>
            </a:r>
          </a:p>
          <a:p>
            <a:pPr/>
            <a:r>
              <a:rPr sz="1800" b="0">
                <a:latin typeface="Noto Sans CJK SC"/>
              </a:rPr>
              <a:t>动作空间割裂：Mobile/Web/Desktop 不一致；梯度冲突/迁移困难（MRPO、插值等都在缓解）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动作空间：从坐标 JSON 到 API-GUI Paradigm（Computer-RL）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现状：click/type/drag/scroll 等 primitives 在不同平台/论文里 schema 不一致</a:t>
            </a:r>
          </a:p>
          <a:p>
            <a:pPr/>
            <a:r>
              <a:rPr sz="1800" b="0">
                <a:latin typeface="Noto Sans CJK SC"/>
              </a:rPr>
              <a:t>Computer-RL：直接输出 Python 代码块，统一 GUI primitive + app-specific API</a:t>
            </a:r>
          </a:p>
          <a:p>
            <a:pPr/>
            <a:r>
              <a:rPr sz="1800" b="0">
                <a:latin typeface="Noto Sans CJK SC"/>
              </a:rPr>
              <a:t>Mano：Thought 与 Action 之间插入 Action Desp（一句话摘要）→ 显著提分（+2.8）</a:t>
            </a:r>
          </a:p>
          <a:p>
            <a:pPr/>
            <a:r>
              <a:rPr sz="1800" b="0">
                <a:latin typeface="Noto Sans CJK SC"/>
              </a:rPr>
              <a:t>Mobile-Agent-v3.5：训练-推理对齐用 Token-ID Transport，避免 logprob 错位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数据版图：Grounding / Trajectory / Cognition（思考-记忆-世界模型）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Grounding：Text/Icon → Point/BBox；含 infeasible 负样本（拒答/纠错）</a:t>
            </a:r>
          </a:p>
          <a:p>
            <a:pPr/>
            <a:r>
              <a:rPr sz="1800" b="0">
                <a:latin typeface="Noto Sans CJK SC"/>
              </a:rPr>
              <a:t>Trajectory：多步交互 (screenshot, thought, action)；可混 A11y/DOM 元数据</a:t>
            </a:r>
          </a:p>
          <a:p>
            <a:pPr/>
            <a:r>
              <a:rPr sz="1800" b="0">
                <a:latin typeface="Noto Sans CJK SC"/>
              </a:rPr>
              <a:t>Cognition：Observation/Memory/Reflection/Progress → Thought → Action（Mobile-Agent v3.5）</a:t>
            </a:r>
          </a:p>
          <a:p>
            <a:pPr/>
            <a:r>
              <a:rPr sz="1800" b="0">
                <a:latin typeface="Noto Sans CJK SC"/>
              </a:rPr>
              <a:t>World Modeling：预测“动作后界面变化”作为监督信号（Mobile-Agent v3.5）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Grounding 数据工程：高难样本 + 负样本 + 轨迹挖掘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AgentCPM：12M grounding 样本（并混 50% 通用多模态做正则）</a:t>
            </a:r>
          </a:p>
          <a:p>
            <a:pPr/>
            <a:r>
              <a:rPr sz="1800" b="0">
                <a:latin typeface="Noto Sans CJK SC"/>
              </a:rPr>
              <a:t>Mobile-Agent-v3.5：Hard Grounding Synthesis（专业软件/多窗口/高分辨率）</a:t>
            </a:r>
          </a:p>
          <a:p>
            <a:pPr/>
            <a:r>
              <a:rPr sz="1800" b="0">
                <a:latin typeface="Noto Sans CJK SC"/>
              </a:rPr>
              <a:t>Mobile-Agent-v3.5：Infeasible 负样本（截图×Query 随机组合 + 多模型共识过滤）</a:t>
            </a:r>
          </a:p>
          <a:p>
            <a:pPr/>
            <a:r>
              <a:rPr sz="1800" b="0">
                <a:latin typeface="Noto Sans CJK SC"/>
              </a:rPr>
              <a:t>Mobile-Agent-v3.5：从海量探索轨迹用 Critic 挖掘/清洗 grounding 对（低成本扩容）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Trajectory 生产：三条路线（规模×质量）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自动化探索（Mobile-Agent-v3.5）：人工建 DAG + checkpoint；失败回滚+重写指令→干净轨迹</a:t>
            </a:r>
          </a:p>
          <a:p>
            <a:pPr/>
            <a:r>
              <a:rPr sz="1800" b="0">
                <a:latin typeface="Noto Sans CJK SC"/>
              </a:rPr>
              <a:t>虚拟环境（Mobile-Agent-v3.5）：Web 渲染可控 app，绕开验证码/噪声，长轨迹高效生成</a:t>
            </a:r>
          </a:p>
          <a:p>
            <a:pPr/>
            <a:r>
              <a:rPr sz="1800" b="0">
                <a:latin typeface="Noto Sans CJK SC"/>
              </a:rPr>
              <a:t>自动化采集（Mano Explorer）：元素提取（Web 插件/桌面 A11y+OmniParse）+ DFS 深度≤10</a:t>
            </a:r>
          </a:p>
          <a:p>
            <a:pPr/>
            <a:r>
              <a:rPr sz="1800" b="0">
                <a:latin typeface="Noto Sans CJK SC"/>
              </a:rPr>
              <a:t>人工标注：只兜底长尾困难任务；可做 in-policy（UI-TARS-2：accept/override）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任务生成与难度分层：让数据更像推理时的分布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UI-TARS-2：用 LLM 生成 Multi-Condition Obfuscation / Multi-Hop 条件指令</a:t>
            </a:r>
          </a:p>
          <a:p>
            <a:pPr/>
            <a:r>
              <a:rPr sz="1800" b="0">
                <a:latin typeface="Noto Sans CJK SC"/>
              </a:rPr>
              <a:t>Computer-RL：按难度分层采集（Easy/Medium/Hard）+ Model Pool 教师多样性</a:t>
            </a:r>
          </a:p>
          <a:p>
            <a:pPr/>
            <a:r>
              <a:rPr sz="1800" b="0">
                <a:latin typeface="Noto Sans CJK SC"/>
              </a:rPr>
              <a:t>EvoCUA：同一 Query 多条正确轨迹 &gt; 更多 Query（覆盖 policy space）</a:t>
            </a:r>
          </a:p>
          <a:p>
            <a:pPr/>
            <a:r>
              <a:rPr sz="1800" b="0">
                <a:latin typeface="Noto Sans CJK SC"/>
              </a:rPr>
              <a:t>关键步骤（EvoCUA）：普通步骤 vs 关键步骤 upsampling；关键步可用 offline DPO 专训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训练范式总览：一条可复现的 recipe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（可选）CT/Pretrain：UI 感知 + OCR + grounding + 工具语义</a:t>
            </a:r>
          </a:p>
          <a:p>
            <a:pPr/>
            <a:r>
              <a:rPr sz="1800" b="0">
                <a:latin typeface="Noto Sans CJK SC"/>
              </a:rPr>
              <a:t>SFT：带 CoT 的多步轨迹对齐（历史帧/摘要/记忆）</a:t>
            </a:r>
          </a:p>
          <a:p>
            <a:pPr/>
            <a:r>
              <a:rPr sz="1800" b="0">
                <a:latin typeface="Noto Sans CJK SC"/>
              </a:rPr>
              <a:t>Online RL：GRPO/PPO 触发性能跃迁（稀疏 reward + 强 Verifier）</a:t>
            </a:r>
          </a:p>
          <a:p>
            <a:pPr/>
            <a:r>
              <a:rPr sz="1800" b="0">
                <a:latin typeface="Noto Sans CJK SC"/>
              </a:rPr>
              <a:t>Entropulse：用成功 rollouts SFT 一轮恢复熵，再继续 RL（Computer-RL）</a:t>
            </a:r>
          </a:p>
          <a:p>
            <a:pPr/>
            <a:r>
              <a:rPr sz="1800" b="0">
                <a:latin typeface="Noto Sans CJK SC"/>
              </a:rPr>
              <a:t>Offline DPO：对关键步骤或常错模式做样本效率更高的偏好学习（EvoCUA/Mano）</a:t>
            </a:r>
          </a:p>
          <a:p>
            <a:pPr/>
            <a:r>
              <a:rPr sz="1800" b="0">
                <a:latin typeface="Noto Sans CJK SC"/>
              </a:rPr>
              <a:t>跨平台融合：交替优化（MRPO）或专项模型→参数插值（UI-TARS-2）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SFT 细节：输入组织（历史帧）与输出结构（摘要/CoT）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历史帧策略（Mano）：保留前 2 帧历史图像 + 全部历史文本摘要 → 性能/开销最优</a:t>
            </a:r>
          </a:p>
          <a:p>
            <a:pPr/>
            <a:r>
              <a:rPr sz="1800" b="0">
                <a:latin typeface="Noto Sans CJK SC"/>
              </a:rPr>
              <a:t>Action Desp（Mano）：在 Thought 与 Action 之间加一句话摘要，强约束下一步</a:t>
            </a:r>
          </a:p>
          <a:p>
            <a:pPr/>
            <a:r>
              <a:rPr sz="1800" b="0">
                <a:latin typeface="Noto Sans CJK SC"/>
              </a:rPr>
              <a:t>统一 CoT 合成（Mobile-Agent-v3.5）：Observation/Memory/Reflection/Progress → Thought → Action</a:t>
            </a:r>
          </a:p>
          <a:p>
            <a:pPr/>
            <a:r>
              <a:rPr sz="1800" b="0">
                <a:latin typeface="Noto Sans CJK SC"/>
              </a:rPr>
              <a:t>世界模型监督（Mobile-Agent-v3.5）：预测 action 后界面变化，提升前瞻性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RL 细节：算法选择、奖励设计、以及训练-推理一致性工程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Step-wise GRPO（Computer-RL/DART-GUI）：不需要 Value Network，显存友好；group 内 z-score advantage</a:t>
            </a:r>
          </a:p>
          <a:p>
            <a:pPr/>
            <a:r>
              <a:rPr sz="1800" b="0">
                <a:latin typeface="Noto Sans CJK SC"/>
              </a:rPr>
              <a:t>PPO（UI-TARS-2）：更稳定，但需 Value 预训练；长序列用 Decoupled/Length-Adaptive GAE</a:t>
            </a:r>
          </a:p>
          <a:p>
            <a:pPr/>
            <a:r>
              <a:rPr sz="1800" b="0">
                <a:latin typeface="Noto Sans CJK SC"/>
              </a:rPr>
              <a:t>MRPO（Mobile-Agent-v3.5）：交替多平台优化，缓解多设备梯度 tug-of-war</a:t>
            </a:r>
          </a:p>
          <a:p>
            <a:pPr/>
            <a:r>
              <a:rPr sz="1800" b="0">
                <a:latin typeface="Noto Sans CJK SC"/>
              </a:rPr>
              <a:t>Reward：Rule-based verifier（优先）→ screenshot-diff+OCR → LLM-as-judge → Generative ORM（UI-TARS-2）</a:t>
            </a:r>
          </a:p>
          <a:p>
            <a:pPr/>
            <a:r>
              <a:rPr sz="1800" b="0">
                <a:latin typeface="Noto Sans CJK SC"/>
              </a:rPr>
              <a:t>一致性工程（Mobile-Agent-v3.5）：Token-ID Transport，避免 logprob 计算错位</a:t>
            </a:r>
          </a:p>
          <a:p>
            <a:pPr/>
            <a:r>
              <a:rPr sz="1800" b="0">
                <a:latin typeface="Noto Sans CJK SC"/>
              </a:rPr>
              <a:t>熵坍塌：RL 后期 mode collapse → Entropulse（Computer-RL）恢复探索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Verifier 体系：决定 RL 上限的“隐形模型”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Tier 1 Rule-based：文件系统/窗口状态/文档结构解析/配置读取（最可靠）</a:t>
            </a:r>
          </a:p>
          <a:p>
            <a:pPr/>
            <a:r>
              <a:rPr sz="1800" b="0">
                <a:latin typeface="Noto Sans CJK SC"/>
              </a:rPr>
              <a:t>Tier 2 Screenshot-diff：关键区域比对 + OCR/regex（中等可扩展）</a:t>
            </a:r>
          </a:p>
          <a:p>
            <a:pPr/>
            <a:r>
              <a:rPr sz="1800" b="0">
                <a:latin typeface="Noto Sans CJK SC"/>
              </a:rPr>
              <a:t>Tier 3 LLM-as-Judge：灵活但噪声大；可输出标量评分与失败原因</a:t>
            </a:r>
          </a:p>
          <a:p>
            <a:pPr/>
            <a:r>
              <a:rPr sz="1800" b="0">
                <a:latin typeface="Noto Sans CJK SC"/>
              </a:rPr>
              <a:t>Tier 4 Generative ORM（UI-TARS-2）：自训练 outcome reward model，统一开放任务打分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环境与系统架构：让 Online RL 变成可规模化的工程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并发需求：EvoCUA 提到 2000–4000 环境；Computer-RL/相关工作也依赖数千并发</a:t>
            </a:r>
          </a:p>
          <a:p>
            <a:pPr/>
            <a:r>
              <a:rPr sz="1800" b="0">
                <a:latin typeface="Noto Sans CJK SC"/>
              </a:rPr>
              <a:t>核心工程点：快照池 + 快速重置（&lt;10s）+ 轨迹为最小调度单元（rollout-wise）</a:t>
            </a:r>
          </a:p>
          <a:p>
            <a:pPr/>
            <a:r>
              <a:rPr sz="1800" b="0">
                <a:latin typeface="Noto Sans CJK SC"/>
              </a:rPr>
              <a:t>解耦异步架构（DART-GUI）：Env Cluster / Rollout Service / Data Manager / Trainer</a:t>
            </a:r>
          </a:p>
          <a:p>
            <a:pPr/>
            <a:r>
              <a:rPr sz="1800" b="0">
                <a:latin typeface="Noto Sans CJK SC"/>
              </a:rPr>
              <a:t>near on-policy：每条轨迹只用一次 + 渐进式同步，减少分布漂移与全局 barrier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观测输入：Vision-only vs A11y Tree（以及如何混合）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A11y 的价值：可给结构化元素/role/name/坐标；更易做 grounding 与解释</a:t>
            </a:r>
          </a:p>
          <a:p>
            <a:pPr/>
            <a:r>
              <a:rPr sz="1800" b="0">
                <a:latin typeface="Noto Sans CJK SC"/>
              </a:rPr>
              <a:t>A11y 的代价：token 成本高、跨 OS 覆盖不一致、Electron/浏览器需额外 flag</a:t>
            </a:r>
          </a:p>
          <a:p>
            <a:pPr/>
            <a:r>
              <a:rPr sz="1800" b="0">
                <a:latin typeface="Noto Sans CJK SC"/>
              </a:rPr>
              <a:t>Computer-RL：明确移除 A11y tree，减少 token 且避免冗余（纯视觉仍可 SOTA）</a:t>
            </a:r>
          </a:p>
          <a:p>
            <a:pPr/>
            <a:r>
              <a:rPr sz="1800" b="0">
                <a:latin typeface="Noto Sans CJK SC"/>
              </a:rPr>
              <a:t>建议：训练时混合（有/无 A11y），推理时按任务/应用选择；数据 schema 需兼容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桌面应用选择：可程序化 + 易验证优先（来自环境选型分析）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跨平台 P0：文件管理器 / 浏览器 / 终端 / Office 套件 / VS Code / 系统设置 / 文本编辑器</a:t>
            </a:r>
          </a:p>
          <a:p>
            <a:pPr/>
            <a:r>
              <a:rPr sz="1800" b="0">
                <a:latin typeface="Noto Sans CJK SC"/>
              </a:rPr>
              <a:t>最佳 code 自动化：Browser=Playwright；Office=Win COM / Linux UNO / macOS AppleScript+UNO</a:t>
            </a:r>
          </a:p>
          <a:p>
            <a:pPr/>
            <a:r>
              <a:rPr sz="1800" b="0">
                <a:latin typeface="Noto Sans CJK SC"/>
              </a:rPr>
              <a:t>A11y 基建：Linux AT-SPI（Wayland 限制键鼠注入）、Windows UIA、macOS AX（需授权）</a:t>
            </a:r>
          </a:p>
          <a:p>
            <a:pPr/>
            <a:r>
              <a:rPr sz="1800" b="0">
                <a:latin typeface="Noto Sans CJK SC"/>
              </a:rPr>
              <a:t>Verifier 难度：文件/终端/文本（低）→ 浏览器/Office/设置（中）→ 图像编辑/邮件（高）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方法论：8 步搭建你的 CUA 基座（把论文共识变成执行清单）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1) 定义统一动作空间：优先考虑代码动作空间（API-GUI paradigm）+ primitives 兜底</a:t>
            </a:r>
          </a:p>
          <a:p>
            <a:pPr/>
            <a:r>
              <a:rPr sz="1800" b="0">
                <a:latin typeface="Noto Sans CJK SC"/>
              </a:rPr>
              <a:t>2) 选 P0 应用与任务域：可程序化/可验证/高频；先覆盖文件/浏览器/Office/终端</a:t>
            </a:r>
          </a:p>
          <a:p>
            <a:pPr/>
            <a:r>
              <a:rPr sz="1800" b="0">
                <a:latin typeface="Noto Sans CJK SC"/>
              </a:rPr>
              <a:t>3) 先建 Verifier（Tier1→Tier3）与快照重置，再谈 Online RL</a:t>
            </a:r>
          </a:p>
          <a:p>
            <a:pPr/>
            <a:r>
              <a:rPr sz="1800" b="0">
                <a:latin typeface="Noto Sans CJK SC"/>
              </a:rPr>
              <a:t>4) Grounding 先行：高难合成 + 负样本 + 轨迹挖掘，持续提升点击正确率</a:t>
            </a:r>
          </a:p>
          <a:p>
            <a:pPr/>
            <a:r>
              <a:rPr sz="1800" b="0">
                <a:latin typeface="Noto Sans CJK SC"/>
              </a:rPr>
              <a:t>5) 冷启动 SFT：高质量短轨迹 + 2 帧历史图像 + 全历史摘要 + Action Desp</a:t>
            </a:r>
          </a:p>
          <a:p>
            <a:pPr/>
            <a:r>
              <a:rPr sz="1800" b="0">
                <a:latin typeface="Noto Sans CJK SC"/>
              </a:rPr>
              <a:t>6) 启动数据飞轮：rollout→验证→路由（成功→SFT；失败/低质→CT 或修正）</a:t>
            </a:r>
          </a:p>
          <a:p>
            <a:pPr/>
            <a:r>
              <a:rPr sz="1800" b="0">
                <a:latin typeface="Noto Sans CJK SC"/>
              </a:rPr>
              <a:t>7) Online RL + 熵管理：GRPO/PPO 触顶后用 Entropulse 再继续</a:t>
            </a:r>
          </a:p>
          <a:p>
            <a:pPr/>
            <a:r>
              <a:rPr sz="1800" b="0">
                <a:latin typeface="Noto Sans CJK SC"/>
              </a:rPr>
              <a:t>8) 跨平台融合：交替优化（MRPO）或专项模型→参数插值（更稳）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常见 Failure Modes → 对策（从材料中抽象）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Grounding 错误：小控件/遮挡/多窗口 → hard synthesis + 负样本 + critic 挖掘</a:t>
            </a:r>
          </a:p>
          <a:p>
            <a:pPr/>
            <a:r>
              <a:rPr sz="1800" b="0">
                <a:latin typeface="Noto Sans CJK SC"/>
              </a:rPr>
              <a:t>RL 熵坍塌：mode collapse/过度自信 → Entropulse（成功 rollouts SFT）+ 熵监控</a:t>
            </a:r>
          </a:p>
          <a:p>
            <a:pPr/>
            <a:r>
              <a:rPr sz="1800" b="0">
                <a:latin typeface="Noto Sans CJK SC"/>
              </a:rPr>
              <a:t>跨设备梯度冲突：batch 混训 tug-of-war → MRPO 交替训练 / 专项模型插值融合</a:t>
            </a:r>
          </a:p>
          <a:p>
            <a:pPr/>
            <a:r>
              <a:rPr sz="1800" b="0">
                <a:latin typeface="Noto Sans CJK SC"/>
              </a:rPr>
              <a:t>训练-推理不一致：logprob 错位 → Token-ID Transport（回传 token ids）</a:t>
            </a:r>
          </a:p>
          <a:p>
            <a:pPr/>
            <a:r>
              <a:rPr sz="1800" b="0">
                <a:latin typeface="Noto Sans CJK SC"/>
              </a:rPr>
              <a:t>Verifier 缺口：开放任务难验证 → 分层 verifier + Generative ORM</a:t>
            </a:r>
          </a:p>
          <a:p>
            <a:pPr/>
            <a:r>
              <a:rPr sz="1800" b="0">
                <a:latin typeface="Noto Sans CJK SC"/>
              </a:rPr>
              <a:t>系统约束：Wayland 键鼠注入、macOS 授权 → 工具链预配置 + 纯视觉兜底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Noto Sans CJK SC"/>
              </a:rPr>
              <a:t>开源数据与评测地形图（如何组合使用）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534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模块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优先资源（材料覆盖）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用途/注意点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Grounding 预训练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OS-ATLAS / GroundCUA / Jedi / ScreenSpot(-Pro)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先把点击/定位做对；加入 infeasible 负样本提升拒答/纠错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轨迹 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OpenCUA/AgentNet / GUI-360° / ScaleCUA / OmniACT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统一 schema；OpenCUA 与基座 pattern 差异需对齐（材料提到 RoPE 等）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端到端评测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OSWorld / Windows Agent Arena / AssistGUI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以 Task SR 为主；搭配效率指标与失败分析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综合评测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MMBench-GUI / UI-Vision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分层看能力：理解→定位→动作→协作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在线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自建任务 + 可编程 verifier（Computer-RL 提到 ~8000）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Noto Sans CJK SC"/>
                        </a:rPr>
                        <a:t>瓶颈在环境并发与 verifier 吞吐；先做 P0 应用闭环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结论与下一步实验（面向方法论验证）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最重要的不是 backbone，而是：动作空间 + Verifier + 数据飞轮的迭代效率</a:t>
            </a:r>
          </a:p>
          <a:p>
            <a:pPr/>
            <a:r>
              <a:rPr sz="1800" b="0">
                <a:latin typeface="Noto Sans CJK SC"/>
              </a:rPr>
              <a:t>建议的 ablation：A11y on/off、动作空间（JSON vs code）、Entropulse 有无、关键步骤 DPO</a:t>
            </a:r>
          </a:p>
          <a:p>
            <a:pPr/>
            <a:r>
              <a:rPr sz="1800" b="0">
                <a:latin typeface="Noto Sans CJK SC"/>
              </a:rPr>
              <a:t>关键未解：跨平台统一动作空间、自动 verifier 生成/自举、开放任务的可验证化</a:t>
            </a:r>
          </a:p>
          <a:p>
            <a:pPr/>
            <a:r>
              <a:rPr sz="1800" b="0">
                <a:latin typeface="Noto Sans CJK SC"/>
              </a:rPr>
              <a:t>可选方向：做一个可扩展的开源轨迹/环境/验证基建（数据管线 paper 也成立）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Noto Sans CJK SC"/>
              </a:rPr>
              <a:t>References（材料覆盖的关键工作）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sz="1800" b="0">
                <a:latin typeface="Noto Sans CJK SC"/>
              </a:rPr>
              <a:t>Mobile-Agent-v3.5 / Mano Tech Report / UI-TARS-2 / EvoCUA / AgentCPM</a:t>
            </a:r>
          </a:p>
          <a:p>
            <a:pPr/>
            <a:r>
              <a:rPr sz="1800" b="0">
                <a:latin typeface="Noto Sans CJK SC"/>
              </a:rPr>
              <a:t>Computer-RL（AutoGLM-OS）/ DART-GUI / OpenCUA/AgentNet / OSWorld</a:t>
            </a:r>
          </a:p>
          <a:p>
            <a:pPr/>
            <a:r>
              <a:rPr sz="1800" b="0">
                <a:latin typeface="Noto Sans CJK SC"/>
              </a:rPr>
              <a:t>OS-ATLAS / GroundCUA / ScreenSpot-Pro / GUI-360° / ScaleCUA / MMBench-GUI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